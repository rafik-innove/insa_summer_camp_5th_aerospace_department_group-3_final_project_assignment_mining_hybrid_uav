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y Grotesk V3 Wide Bold" charset="1" panose="00000805000000000000"/>
      <p:regular r:id="rId23"/>
    </p:embeddedFont>
    <p:embeddedFont>
      <p:font typeface="Garet Bold" charset="1" panose="00000000000000000000"/>
      <p:regular r:id="rId24"/>
    </p:embeddedFont>
    <p:embeddedFont>
      <p:font typeface="Garet" charset="1" panose="00000000000000000000"/>
      <p:regular r:id="rId25"/>
    </p:embeddedFont>
    <p:embeddedFont>
      <p:font typeface="Garet Bold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4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22" t="0" r="-26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931398" y="8833096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00326" y="897773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9541" y="519664"/>
            <a:ext cx="15388917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 spc="-374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DESIGN OF GEOMINER 1 :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spc="-374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A</a:t>
            </a:r>
            <a:r>
              <a:rPr lang="en-US" b="true" sz="4999" spc="-374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 HYBRID VTOL UAV FOR INTELLIGENT MINERAL EXPLORATION AND MINING OPERATIONS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001" y="6814431"/>
            <a:ext cx="8051022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PROJECT PROPOSAL — GROUP FOUR</a:t>
            </a:r>
          </a:p>
          <a:p>
            <a:pPr algn="l">
              <a:lnSpc>
                <a:spcPts val="3219"/>
              </a:lnSpc>
            </a:pPr>
            <a:r>
              <a:rPr lang="en-US" sz="2299" spc="-4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299" spc="-45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UAV SYSTEMS ENGINEERING</a:t>
            </a:r>
          </a:p>
          <a:p>
            <a:pPr algn="l">
              <a:lnSpc>
                <a:spcPts val="3219"/>
              </a:lnSpc>
            </a:pPr>
            <a:r>
              <a:rPr lang="en-US" sz="2299" spc="-4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INSA Talent Center · Department of Aerospace</a:t>
            </a:r>
          </a:p>
          <a:p>
            <a:pPr algn="l">
              <a:lnSpc>
                <a:spcPts val="3219"/>
              </a:lnSpc>
            </a:pPr>
            <a:r>
              <a:rPr lang="en-US" sz="2299" spc="-4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August 2026 · Addis Ababa, Ethiopia</a:t>
            </a:r>
          </a:p>
          <a:p>
            <a:pPr algn="ctr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Members:</a:t>
            </a:r>
          </a:p>
          <a:p>
            <a:pPr algn="l" marL="496566" indent="-248283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Abdulfetah     Aym</a:t>
            </a: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    BENARD    DUBIWAK     EDEN</a:t>
            </a:r>
          </a:p>
          <a:p>
            <a:pPr algn="l" marL="496566" indent="-248283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HI</a:t>
            </a: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YAB     RAFIK    YAQOB    ZEKI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70193" y="7214481"/>
            <a:ext cx="7217807" cy="278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SCOPE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 PROFESSIONAL HYBRID VTOL UAV SYSTEM ENGINEERED FOR MINERAL EXPLORATION,</a:t>
            </a: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geological mappi</a:t>
            </a:r>
            <a:r>
              <a:rPr lang="en-US" b="true" sz="2299" spc="-4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NG, MINE-SITE SURVEYING, AND HIGH-RESOLUTION AERIAL DATA COLLECTION IN REMOTE AND HAZARDOUS ENVIRONMENTS.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252424" y="3048351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3" y="0"/>
                </a:lnTo>
                <a:lnTo>
                  <a:pt x="425203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919396" y="3737203"/>
            <a:ext cx="6339904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52151" y="3408523"/>
            <a:ext cx="8940627" cy="565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Why a Hybrid VTOL UAV?</a:t>
            </a:r>
          </a:p>
          <a:p>
            <a:pPr algn="l">
              <a:lnSpc>
                <a:spcPts val="2519"/>
              </a:lnSpc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purpose-built Hybrid VTOL UAV overcomes these limitations by providing autonomous aerial surveying with minimal human intervention.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✓ No Runway Required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Vertical takeoff and landing from virtually any flat surface.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✓ Zer</a:t>
            </a: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 Personnel Exposure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Remote autonomous operation keeps personnel away from hazardous environments.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✓</a:t>
            </a: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Rapid Deployment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Fast mission setup and shorter survey cycles, reducing operational time and cost.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✓ High-Precision Data Collection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Captures accurate geospatial, geological, and environmental data for better decision-making.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✓ Long-Endurance Operations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Combines VTOL flexibility with fixed-wing efficiency for extended-range mining missions.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271474" y="8792830"/>
            <a:ext cx="2332050" cy="1494170"/>
            <a:chOff x="0" y="0"/>
            <a:chExt cx="737245" cy="4723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7245" cy="472361"/>
            </a:xfrm>
            <a:custGeom>
              <a:avLst/>
              <a:gdLst/>
              <a:ahLst/>
              <a:cxnLst/>
              <a:rect r="r" b="b" t="t" l="l"/>
              <a:pathLst>
                <a:path h="472361" w="737245">
                  <a:moveTo>
                    <a:pt x="116193" y="0"/>
                  </a:moveTo>
                  <a:lnTo>
                    <a:pt x="621052" y="0"/>
                  </a:lnTo>
                  <a:cubicBezTo>
                    <a:pt x="651868" y="0"/>
                    <a:pt x="681422" y="12242"/>
                    <a:pt x="703213" y="34032"/>
                  </a:cubicBezTo>
                  <a:cubicBezTo>
                    <a:pt x="725003" y="55822"/>
                    <a:pt x="737245" y="85376"/>
                    <a:pt x="737245" y="116193"/>
                  </a:cubicBezTo>
                  <a:lnTo>
                    <a:pt x="737245" y="356168"/>
                  </a:lnTo>
                  <a:cubicBezTo>
                    <a:pt x="737245" y="420339"/>
                    <a:pt x="685223" y="472361"/>
                    <a:pt x="621052" y="472361"/>
                  </a:cubicBezTo>
                  <a:lnTo>
                    <a:pt x="116193" y="472361"/>
                  </a:lnTo>
                  <a:cubicBezTo>
                    <a:pt x="85376" y="472361"/>
                    <a:pt x="55822" y="460119"/>
                    <a:pt x="34032" y="438329"/>
                  </a:cubicBezTo>
                  <a:cubicBezTo>
                    <a:pt x="12242" y="416538"/>
                    <a:pt x="0" y="386984"/>
                    <a:pt x="0" y="356168"/>
                  </a:cubicBezTo>
                  <a:lnTo>
                    <a:pt x="0" y="116193"/>
                  </a:lnTo>
                  <a:cubicBezTo>
                    <a:pt x="0" y="85376"/>
                    <a:pt x="12242" y="55822"/>
                    <a:pt x="34032" y="34032"/>
                  </a:cubicBezTo>
                  <a:cubicBezTo>
                    <a:pt x="55822" y="12242"/>
                    <a:pt x="85376" y="0"/>
                    <a:pt x="11619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8" r="0" b="-22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7750" y="2021148"/>
            <a:ext cx="7223724" cy="128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b="true" sz="5366" spc="-40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WHY IS THIS UAV NEEDED?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00768" y="3999141"/>
            <a:ext cx="6339904" cy="517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51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Operational Challenges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1. INACCESSIBLE TERRAIN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Remote mining areas and rugged terrain make conventional ground surveys difficult and time-consuming.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2. HAZARDOUS ENVIRONMENTS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Mining sites can expose personnel to unstable ground, dust, toxic gases, water, and other operational hazards.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3. SURVEYING COST &amp; TIME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Conventional surveying requires significant personnel, equipment, and operational time.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4. UAV CAPABILITY GAP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Multirotors provide VTOL capability but have limited endurance, while fixed-wing aircraft require suitable launch and recovery areas.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52424" y="2019300"/>
            <a:ext cx="202628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UNDERSTANDING THE REASON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00768" y="1830648"/>
            <a:ext cx="7587232" cy="194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-41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GEOMINER 1 SOLUTION</a:t>
            </a:r>
          </a:p>
          <a:p>
            <a:pPr algn="l">
              <a:lnSpc>
                <a:spcPts val="2519"/>
              </a:lnSpc>
            </a:pPr>
            <a:r>
              <a:rPr lang="en-US" sz="1799" spc="-3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VTOL flexibility + fixed-wing efficiency + modular sensing + autonomous navigation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This enables rapid deployment and extended aerial surveying while reducing unnecessary personnel exposure to hazardous terrain.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646117" y="9751058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565548" y="3465193"/>
            <a:ext cx="7565510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425807" y="589241"/>
            <a:ext cx="2973210" cy="3607212"/>
            <a:chOff x="0" y="0"/>
            <a:chExt cx="5188077" cy="6294374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40" y="0"/>
              <a:ext cx="5188037" cy="6294418"/>
            </a:xfrm>
            <a:custGeom>
              <a:avLst/>
              <a:gdLst/>
              <a:ahLst/>
              <a:cxnLst/>
              <a:rect r="r" b="b" t="t" l="l"/>
              <a:pathLst>
                <a:path h="6294418" w="5188037">
                  <a:moveTo>
                    <a:pt x="292100" y="0"/>
                  </a:moveTo>
                  <a:cubicBezTo>
                    <a:pt x="131445" y="0"/>
                    <a:pt x="0" y="131445"/>
                    <a:pt x="0" y="292100"/>
                  </a:cubicBezTo>
                  <a:lnTo>
                    <a:pt x="0" y="6057900"/>
                  </a:lnTo>
                  <a:cubicBezTo>
                    <a:pt x="0" y="6218555"/>
                    <a:pt x="128397" y="6322060"/>
                    <a:pt x="285369" y="6287897"/>
                  </a:cubicBezTo>
                  <a:lnTo>
                    <a:pt x="3622294" y="5561457"/>
                  </a:lnTo>
                  <a:cubicBezTo>
                    <a:pt x="3779266" y="5527294"/>
                    <a:pt x="3938905" y="5371592"/>
                    <a:pt x="3976878" y="5215509"/>
                  </a:cubicBezTo>
                  <a:lnTo>
                    <a:pt x="5179949" y="283718"/>
                  </a:lnTo>
                  <a:cubicBezTo>
                    <a:pt x="5218049" y="127762"/>
                    <a:pt x="5117846" y="0"/>
                    <a:pt x="4957191" y="0"/>
                  </a:cubicBezTo>
                  <a:lnTo>
                    <a:pt x="292100" y="0"/>
                  </a:lnTo>
                  <a:close/>
                </a:path>
              </a:pathLst>
            </a:custGeom>
            <a:blipFill>
              <a:blip r:embed="rId4"/>
              <a:stretch>
                <a:fillRect l="0" t="-543" r="0" b="-2316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9061" y="1209675"/>
            <a:ext cx="7679287" cy="149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b="true" sz="6305" spc="-47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PROJECT 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31750" y="3859993"/>
            <a:ext cx="9239571" cy="557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40" u="sng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ENGINEERING DESIGN WORKFLOW</a:t>
            </a:r>
          </a:p>
          <a:p>
            <a:pPr algn="l">
              <a:lnSpc>
                <a:spcPts val="2800"/>
              </a:lnSpc>
            </a:pPr>
            <a:r>
              <a:rPr lang="en-US" b="true" sz="2000" spc="-40" u="sng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FROM REQUIREMENTS TO UAV CONFIGURATION</a:t>
            </a:r>
          </a:p>
          <a:p>
            <a:pPr algn="l">
              <a:lnSpc>
                <a:spcPts val="2413"/>
              </a:lnSpc>
            </a:pPr>
          </a:p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MISSION REQUIREMENTS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↓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SYSTEM REQUIREMENTS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↓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CONCEPTUAL CONFIGURATION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↓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Onshape CAD DEVELOPMENT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↓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OpenVSP AIRCRAFT MODELING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↓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XFLR5 AERODYNAMIC ANALYSIS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↓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PROPULSION &amp; POWER SIZING</a:t>
            </a:r>
          </a:p>
          <a:p>
            <a:pPr algn="l">
              <a:lnSpc>
                <a:spcPts val="2413"/>
              </a:lnSpc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↓</a:t>
            </a:r>
          </a:p>
          <a:p>
            <a:pPr algn="l">
              <a:lnSpc>
                <a:spcPts val="2413"/>
              </a:lnSpc>
              <a:spcBef>
                <a:spcPct val="0"/>
              </a:spcBef>
            </a:pPr>
            <a:r>
              <a:rPr lang="en-US" sz="1724" spc="-3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07334" y="1875153"/>
            <a:ext cx="7223724" cy="159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3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DESIGN A FEASIBLE, MODULAR HYBRID VTOL UAV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Develop and evaluate a 30 kg hybrid VTOL UAV capable of vertical takeoff and landing, efficient fixed-wing cruise, high-precision navigation, modular sensing, autonomous mission execution, and safe operation in remote mining environments.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9061" y="3683467"/>
            <a:ext cx="7679287" cy="510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59" spc="-41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CORE OBJECTIVES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Establish</a:t>
            </a: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complete system requirements.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Develop the conceptual airframe.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Design the VTOL and cruise propulsion systems.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esign the avionics and electrical architecture.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Integrate the Pixhawk autopilot.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Configure ArduPilot QuadPlane flight control.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Use QGroundControl as the Ground Control Station (GCS).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Develop a modular payload system.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Pe</a:t>
            </a: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rform aerodynamic and conceptual design analysis.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Evaluate the design through engineering simulation.</a:t>
            </a:r>
          </a:p>
          <a:p>
            <a:pPr algn="l" marL="444588" indent="-222294" lvl="1">
              <a:lnSpc>
                <a:spcPts val="2882"/>
              </a:lnSpc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Analyze safety, redundancy, and reliability.</a:t>
            </a:r>
          </a:p>
          <a:p>
            <a:pPr algn="l" marL="444588" indent="-222294" lvl="1">
              <a:lnSpc>
                <a:spcPts val="2882"/>
              </a:lnSpc>
              <a:spcBef>
                <a:spcPct val="0"/>
              </a:spcBef>
              <a:buAutoNum type="arabicPeriod" startAt="1"/>
            </a:pPr>
            <a:r>
              <a:rPr lang="en-US" sz="2059" spc="-41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Select components using engineering justification.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1058" y="5105400"/>
            <a:ext cx="4940263" cy="273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AVIONICS &amp; PIXHAWK INTEGRATION</a:t>
            </a:r>
          </a:p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↓</a:t>
            </a:r>
          </a:p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ARDUPILOT QUADPLANE CONFIGURATION</a:t>
            </a:r>
          </a:p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↓</a:t>
            </a:r>
          </a:p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QGROUNDCONTROL GCS CONFIGURATION</a:t>
            </a:r>
          </a:p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SYSTEM INTEGRATION</a:t>
            </a:r>
          </a:p>
          <a:p>
            <a:pPr algn="l">
              <a:lnSpc>
                <a:spcPts val="2413"/>
              </a:lnSpc>
            </a:pPr>
            <a:r>
              <a:rPr lang="en-US" sz="1724" spc="-34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↓</a:t>
            </a:r>
          </a:p>
          <a:p>
            <a:pPr algn="l">
              <a:lnSpc>
                <a:spcPts val="2413"/>
              </a:lnSpc>
              <a:spcBef>
                <a:spcPct val="0"/>
              </a:spcBef>
            </a:pPr>
            <a:r>
              <a:rPr lang="en-US" b="true" sz="1724" spc="-3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PERFORMANCE &amp; SAFETY EVALUATION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065676" y="3187351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600030" y="3521890"/>
            <a:ext cx="10267627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016915" y="121288"/>
            <a:ext cx="4542907" cy="1814825"/>
            <a:chOff x="0" y="0"/>
            <a:chExt cx="6268847" cy="25043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" y="0"/>
              <a:ext cx="6268836" cy="2504357"/>
            </a:xfrm>
            <a:custGeom>
              <a:avLst/>
              <a:gdLst/>
              <a:ahLst/>
              <a:cxnLst/>
              <a:rect r="r" b="b" t="t" l="l"/>
              <a:pathLst>
                <a:path h="2504357" w="6268836">
                  <a:moveTo>
                    <a:pt x="269102" y="998855"/>
                  </a:moveTo>
                  <a:cubicBezTo>
                    <a:pt x="322315" y="1150493"/>
                    <a:pt x="494146" y="1302512"/>
                    <a:pt x="651245" y="1336675"/>
                  </a:cubicBezTo>
                  <a:lnTo>
                    <a:pt x="5983467" y="2497836"/>
                  </a:lnTo>
                  <a:cubicBezTo>
                    <a:pt x="6140439" y="2531999"/>
                    <a:pt x="6268836" y="2428494"/>
                    <a:pt x="6268836" y="2267839"/>
                  </a:cubicBezTo>
                  <a:lnTo>
                    <a:pt x="6268836" y="292100"/>
                  </a:lnTo>
                  <a:cubicBezTo>
                    <a:pt x="6268836" y="131445"/>
                    <a:pt x="6137391" y="0"/>
                    <a:pt x="5976736" y="0"/>
                  </a:cubicBezTo>
                  <a:lnTo>
                    <a:pt x="210936" y="0"/>
                  </a:lnTo>
                  <a:cubicBezTo>
                    <a:pt x="50281" y="0"/>
                    <a:pt x="-37603" y="124079"/>
                    <a:pt x="15483" y="275590"/>
                  </a:cubicBezTo>
                  <a:lnTo>
                    <a:pt x="269102" y="998855"/>
                  </a:lnTo>
                  <a:close/>
                </a:path>
              </a:pathLst>
            </a:custGeom>
            <a:blipFill>
              <a:blip r:embed="rId4"/>
              <a:stretch>
                <a:fillRect l="0" t="-7625" r="0" b="-7625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6008" y="849629"/>
            <a:ext cx="1083377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5000" spc="-375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SYSTEM REQUIREMENTS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0030" y="2586534"/>
            <a:ext cx="9540672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3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The proposed GEOMINER establishes these performance targets, including the 30 kg MTOW, 120-minute endurance, 100 km mission range, 5 kg payload and 2.8 m wingspan.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008" y="1867624"/>
            <a:ext cx="10833770" cy="48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3900" spc="-29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COMPLETE SYSTEM REQUIREMENT SET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28700" y="4298354"/>
          <a:ext cx="5124193" cy="5812909"/>
        </p:xfrm>
        <a:graphic>
          <a:graphicData uri="http://schemas.openxmlformats.org/drawingml/2006/table">
            <a:tbl>
              <a:tblPr/>
              <a:tblGrid>
                <a:gridCol w="2562097"/>
                <a:gridCol w="2562097"/>
              </a:tblGrid>
              <a:tr h="11984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Requirement / 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3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Configuration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Hybrid VTOL fixed-wing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MTOW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30 kg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Payload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Up to 5 kg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Endurance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120 min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Mission 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100 km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Wingspan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2.8 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6581903" y="4298354"/>
          <a:ext cx="5124193" cy="5514975"/>
        </p:xfrm>
        <a:graphic>
          <a:graphicData uri="http://schemas.openxmlformats.org/drawingml/2006/table">
            <a:tbl>
              <a:tblPr/>
              <a:tblGrid>
                <a:gridCol w="2562097"/>
                <a:gridCol w="2562097"/>
              </a:tblGrid>
              <a:tr h="11989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Requirement / 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3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Cruise speed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18–25 m/s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3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Maximum speed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30 m/s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3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Hover T/W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≥1.8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3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RTK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&lt;5 cm horizontal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3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Service ceiling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4,000 m ASL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3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Flight controller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Pixhawk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2135107" y="4298354"/>
          <a:ext cx="5124193" cy="5563664"/>
        </p:xfrm>
        <a:graphic>
          <a:graphicData uri="http://schemas.openxmlformats.org/drawingml/2006/table">
            <a:tbl>
              <a:tblPr/>
              <a:tblGrid>
                <a:gridCol w="2562097"/>
                <a:gridCol w="2562097"/>
              </a:tblGrid>
              <a:tr h="11988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Requirement / 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94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Autopilot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ArduPilot QuadPlane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94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QGroundControl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6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Payload 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Mechanical + power +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6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Recovery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VTOL landing + emergency recovery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6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Mission operation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Autonomous with operator supervision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12602" y="298696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705758" y="2860689"/>
            <a:ext cx="7902369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25204" y="6235369"/>
            <a:ext cx="3035217" cy="383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SolidWorks</a:t>
            </a: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urpose: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etailed 3D CAD modeling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Part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and assembly design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Airframe and component development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St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ructural design and validation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Engineering drawings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CFD and flow simulations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Aerodynamic and fluid-flow analysis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Design optimization and performance evaluation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705758" y="2197747"/>
            <a:ext cx="7902369" cy="66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b="true" sz="3899" spc="-7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CONCEPTUAL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7806" y="847725"/>
            <a:ext cx="1206992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5000" spc="-375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DESIGN TOOLS &amp; SOFTWARE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80401" y="3238909"/>
            <a:ext cx="2197017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XFLR5</a:t>
            </a: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Purpose: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Wing and airfoil anal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ysis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Lift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and d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rag 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estimation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Ae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odynamic performance evaluation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Stabil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ity and performance assessment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72768" y="3729037"/>
            <a:ext cx="2197017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QGroundControl</a:t>
            </a: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Purpose: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Mission plann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ing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Parameter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configuration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Telemetry monitoring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Ground-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control interface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Operat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or supervision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83695" y="6945696"/>
            <a:ext cx="2197017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Pixhawk</a:t>
            </a: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urpose: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Primary flight-control hardware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Sensor integration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avigation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Actuat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or control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light-state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54449" y="6686959"/>
            <a:ext cx="2227432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rduPilot / QuadPlane</a:t>
            </a: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Purpose: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Hy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brid VTOL flight-control 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archi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tecture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VTOL 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and fixed-wing flight modes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utonomous mission logic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Navigation and f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ailsafe configu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ra</a:t>
            </a: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5204" y="3168862"/>
            <a:ext cx="2197017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Onshape</a:t>
            </a: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Purpose: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3D CAD modeling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Airframe design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Component arrangement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Structural layout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Assembly development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99" spc="-2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Design collaboration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7806" y="1651014"/>
            <a:ext cx="1018422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5000" spc="-375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ENGINEERING DESIGN &amp; SIMULATION WORKFLOW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05758" y="2974975"/>
            <a:ext cx="7902369" cy="709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3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  <a:r>
              <a:rPr lang="en-US" b="true" sz="1999" spc="-39" u="sng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NTELLIGENT MODULAR AERIAL MINING SYSTEM</a:t>
            </a:r>
          </a:p>
          <a:p>
            <a:pPr algn="l">
              <a:lnSpc>
                <a:spcPts val="2379"/>
              </a:lnSpc>
            </a:pPr>
            <a:r>
              <a:rPr lang="en-US" b="true" sz="1699" spc="-33" u="sng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KEY DESIGN FEATURES</a:t>
            </a:r>
          </a:p>
          <a:p>
            <a:pPr algn="l">
              <a:lnSpc>
                <a:spcPts val="237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1. HYBRID VTOL FLIGHT</a:t>
            </a:r>
          </a:p>
          <a:p>
            <a:pPr algn="l">
              <a:lnSpc>
                <a:spcPts val="2099"/>
              </a:lnSpc>
            </a:pP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Four lift motors provide vertical takeoff, landing, and hovering.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2. FIXED-WING CRUISE</a:t>
            </a:r>
          </a:p>
          <a:p>
            <a:pPr algn="l">
              <a:lnSpc>
                <a:spcPts val="2099"/>
              </a:lnSpc>
            </a:pP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A dedicated rear p</a:t>
            </a: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usher motor provides efficient forward flight.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3. PRECISION NAVIGATION</a:t>
            </a:r>
          </a:p>
          <a:p>
            <a:pPr algn="l">
              <a:lnSpc>
                <a:spcPts val="2099"/>
              </a:lnSpc>
            </a:pP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RTK-GNSS, I</a:t>
            </a: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MU, magnetometer, barometer, and airspeed sensing support navigat</a:t>
            </a: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ion.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4. MODULAR </a:t>
            </a: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PAYLOAD BAY</a:t>
            </a:r>
          </a:p>
          <a:p>
            <a:pPr algn="l">
              <a:lnSpc>
                <a:spcPts val="2099"/>
              </a:lnSpc>
            </a:pP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Quick-release interfaces allow different sensors</a:t>
            </a: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t</a:t>
            </a: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 be installed for different missions.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5. ONBOARD COMPU</a:t>
            </a: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TING</a:t>
            </a:r>
          </a:p>
          <a:p>
            <a:pPr algn="l">
              <a:lnSpc>
                <a:spcPts val="2099"/>
              </a:lnSpc>
            </a:pP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A companion computer provides data processing and future AI capability.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6. PIXHAWK FLIGHT CONTROL</a:t>
            </a:r>
          </a:p>
          <a:p>
            <a:pPr algn="l">
              <a:lnSpc>
                <a:spcPts val="2099"/>
              </a:lnSpc>
            </a:pP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Pixhawk serves as the primary flight-control platform running ArduPilot QuadPlane.</a:t>
            </a:r>
          </a:p>
          <a:p>
            <a:pPr algn="l">
              <a:lnSpc>
                <a:spcPts val="209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 spc="-29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7. QGROUNDCONTROL GCS</a:t>
            </a:r>
          </a:p>
          <a:p>
            <a:pPr algn="l">
              <a:lnSpc>
                <a:spcPts val="2099"/>
              </a:lnSpc>
            </a:pPr>
            <a:r>
              <a:rPr lang="en-US" sz="1499" spc="-2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QGroundControl provides mission planning, monitoring, configuration, and operator supervision.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03276" y="3200762"/>
            <a:ext cx="8917887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17513714" y="9577706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3" y="0"/>
                </a:lnTo>
                <a:lnTo>
                  <a:pt x="425203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74395" y="0"/>
            <a:ext cx="2621435" cy="2621435"/>
          </a:xfrm>
          <a:custGeom>
            <a:avLst/>
            <a:gdLst/>
            <a:ahLst/>
            <a:cxnLst/>
            <a:rect r="r" b="b" t="t" l="l"/>
            <a:pathLst>
              <a:path h="2621435" w="2621435">
                <a:moveTo>
                  <a:pt x="0" y="0"/>
                </a:moveTo>
                <a:lnTo>
                  <a:pt x="2621435" y="0"/>
                </a:lnTo>
                <a:lnTo>
                  <a:pt x="2621435" y="2621435"/>
                </a:lnTo>
                <a:lnTo>
                  <a:pt x="0" y="2621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276" y="839045"/>
            <a:ext cx="9467757" cy="168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b="true" sz="7101" spc="-53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OVERALL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81592" y="2695937"/>
            <a:ext cx="4272989" cy="278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3. PROPULSION SYSTEM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4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TOL motors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1 pusher motor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ESCs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Propellers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Fun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ctions: 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Lift, cruise thrust, t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ansition.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3276" y="2810237"/>
            <a:ext cx="94677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3000" spc="-225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SEVEN MAJOR SYSTEMS &amp; SUBSYSTEMS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3276" y="3376975"/>
            <a:ext cx="4272989" cy="39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1. STRUCTURAL SYSTEM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Fus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elage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Wing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Twi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n-boom tail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anding gear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TOL arms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Motor mounts</a:t>
            </a:r>
          </a:p>
          <a:p>
            <a:pPr algn="l">
              <a:lnSpc>
                <a:spcPts val="3219"/>
              </a:lnSpc>
            </a:pP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Fun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ctions: 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Suppor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t, st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ability, aerodynamic perf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orm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ance, protection.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21162" y="5869940"/>
            <a:ext cx="5046526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5. MISSION COMPUTING &amp; CO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MMUNICATION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Compani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on comput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Telemetry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Data s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torage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Communication system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Fun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ctions: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Mission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comput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ing, communicati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ns, data processing.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48173" y="3281725"/>
            <a:ext cx="4272989" cy="39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2. AVIONICS SYSTEM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Pixhawk flight controller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IMU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TK-GNSS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Mag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netometer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Barometer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Airspee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 sensor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Obstacle sensors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Fun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ctions: 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abilization, navigati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n, autonomy.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57265" y="5869940"/>
            <a:ext cx="4272989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6. PAYLOAD SYSTEM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Payload bay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Q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uick-r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elease mount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3-ax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is gim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bal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Miss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ion sensors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Fun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ctions: 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Sensor in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tegration, st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abilization, data collection.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15011" y="1809750"/>
            <a:ext cx="4272989" cy="358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4. ELECTRICAL POWER SYSTEM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Main battery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Backup battery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BMS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PDB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Wiri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ng 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and protection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Fun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ctions: 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Power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supp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ly, management, protection.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13917" y="7560946"/>
            <a:ext cx="5386224" cy="262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174" spc="-43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7. SAFETY &amp; EMERGENCY SYSTEM</a:t>
            </a:r>
          </a:p>
          <a:p>
            <a:pPr algn="l" marL="469369" indent="-234684" lvl="1">
              <a:lnSpc>
                <a:spcPts val="3043"/>
              </a:lnSpc>
              <a:buFont typeface="Arial"/>
              <a:buChar char="•"/>
            </a:pPr>
            <a:r>
              <a:rPr lang="en-US" sz="2174" spc="-4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Balli</a:t>
            </a:r>
            <a:r>
              <a:rPr lang="en-US" sz="2174" spc="-4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stic parachute</a:t>
            </a:r>
          </a:p>
          <a:p>
            <a:pPr algn="l" marL="469369" indent="-234684" lvl="1">
              <a:lnSpc>
                <a:spcPts val="3043"/>
              </a:lnSpc>
              <a:buFont typeface="Arial"/>
              <a:buChar char="•"/>
            </a:pPr>
            <a:r>
              <a:rPr lang="en-US" sz="2174" spc="-4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Flight-termination system</a:t>
            </a:r>
          </a:p>
          <a:p>
            <a:pPr algn="l" marL="469369" indent="-234684" lvl="1">
              <a:lnSpc>
                <a:spcPts val="3043"/>
              </a:lnSpc>
              <a:buFont typeface="Arial"/>
              <a:buChar char="•"/>
            </a:pPr>
            <a:r>
              <a:rPr lang="en-US" sz="2174" spc="-4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Locator beacon</a:t>
            </a:r>
          </a:p>
          <a:p>
            <a:pPr algn="l" marL="469369" indent="-234684" lvl="1">
              <a:lnSpc>
                <a:spcPts val="3043"/>
              </a:lnSpc>
              <a:buFont typeface="Arial"/>
              <a:buChar char="•"/>
            </a:pPr>
            <a:r>
              <a:rPr lang="en-US" sz="2174" spc="-4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Geofencing</a:t>
            </a:r>
          </a:p>
          <a:p>
            <a:pPr algn="l">
              <a:lnSpc>
                <a:spcPts val="3043"/>
              </a:lnSpc>
            </a:pPr>
            <a:r>
              <a:rPr lang="en-US" sz="2174" spc="-43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Fun</a:t>
            </a:r>
            <a:r>
              <a:rPr lang="en-US" sz="2174" spc="-43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ctions: </a:t>
            </a:r>
            <a:r>
              <a:rPr lang="en-US" sz="2174" spc="-4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Recovery, emergency response, t</a:t>
            </a:r>
            <a:r>
              <a:rPr lang="en-US" sz="2174" spc="-4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174" spc="-4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acking.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86260" y="2541363"/>
            <a:ext cx="8370188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17674723" y="9700591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66768" y="3252376"/>
            <a:ext cx="6407955" cy="4582348"/>
          </a:xfrm>
          <a:custGeom>
            <a:avLst/>
            <a:gdLst/>
            <a:ahLst/>
            <a:cxnLst/>
            <a:rect r="r" b="b" t="t" l="l"/>
            <a:pathLst>
              <a:path h="4582348" w="6407955">
                <a:moveTo>
                  <a:pt x="0" y="0"/>
                </a:moveTo>
                <a:lnTo>
                  <a:pt x="6407955" y="0"/>
                </a:lnTo>
                <a:lnTo>
                  <a:pt x="6407955" y="4582348"/>
                </a:lnTo>
                <a:lnTo>
                  <a:pt x="0" y="4582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8349" y="1178437"/>
            <a:ext cx="9690652" cy="136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4"/>
              </a:lnSpc>
            </a:pPr>
            <a:r>
              <a:rPr lang="en-US" b="true" sz="5726" spc="-429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FLIGHT CONTROL &amp; GROUND 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8349" y="2714228"/>
            <a:ext cx="7087628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PIXHAWK + ARDUPILOT + QGROUNDCONTROL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8349" y="3524885"/>
            <a:ext cx="5257491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 i="true" spc="-45" u="sng">
                <a:solidFill>
                  <a:srgbClr val="F2F1FF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PIXHAWK AUTOPILOT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Primary flight-control functions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Attitude stabilization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Navigatio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Sensor integratio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Motor/servo co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trol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VTOL 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tr</a:t>
            </a: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ansition management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sz="2299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Failsafe execution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840" y="3524885"/>
            <a:ext cx="5257491" cy="39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 i="true" spc="-45" u="sng">
                <a:solidFill>
                  <a:srgbClr val="F2F1FF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QGROUNDCONTROL GCS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Used as the ground control station for: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ission planning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W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aypoint configuratio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Flight mo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nitoring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Parameter configuratio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Teleme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try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Operator comma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nds</a:t>
            </a:r>
          </a:p>
          <a:p>
            <a:pPr algn="l" marL="496564" indent="-248282" lvl="1">
              <a:lnSpc>
                <a:spcPts val="3219"/>
              </a:lnSpc>
              <a:buFont typeface="Arial"/>
              <a:buChar char="•"/>
            </a:pP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Re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tur</a:t>
            </a:r>
            <a:r>
              <a:rPr lang="en-US" b="true" sz="2299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n-to-home supervision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8349" y="7152284"/>
            <a:ext cx="5257491" cy="118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 i="true" spc="-45" u="sng">
                <a:solidFill>
                  <a:srgbClr val="F2F1FF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ARDUPILOT QUADPLANE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Used as the autopilo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 softwar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e for the hybrid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VTOL configuration.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8349" y="8639810"/>
            <a:ext cx="15383795" cy="118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 spc="-45" u="sng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Architecture:</a:t>
            </a:r>
          </a:p>
          <a:p>
            <a:pPr algn="l">
              <a:lnSpc>
                <a:spcPts val="3219"/>
              </a:lnSpc>
            </a:pP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QGroundControl GCs -- Telemetry Link -- Pixhawk -- ArduPilo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 QuadPlan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e -- Navigation</a:t>
            </a:r>
            <a:r>
              <a:rPr lang="en-US" sz="2299" spc="-45" b="tru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/ Propulsion / Payload / Safety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79145" y="2400871"/>
            <a:ext cx="7208855" cy="70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4"/>
              </a:lnSpc>
            </a:pPr>
            <a:r>
              <a:rPr lang="en-US" b="true" sz="5726" spc="-429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BLOCK 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6070" y="2270002"/>
            <a:ext cx="9037088" cy="4762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17684677" y="1849561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74445" y="5143500"/>
            <a:ext cx="9763768" cy="5121142"/>
          </a:xfrm>
          <a:custGeom>
            <a:avLst/>
            <a:gdLst/>
            <a:ahLst/>
            <a:cxnLst/>
            <a:rect r="r" b="b" t="t" l="l"/>
            <a:pathLst>
              <a:path h="5121142" w="9763768">
                <a:moveTo>
                  <a:pt x="0" y="0"/>
                </a:moveTo>
                <a:lnTo>
                  <a:pt x="9763768" y="0"/>
                </a:lnTo>
                <a:lnTo>
                  <a:pt x="9763768" y="5121142"/>
                </a:lnTo>
                <a:lnTo>
                  <a:pt x="0" y="5121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18898" y="1425324"/>
            <a:ext cx="7074862" cy="3718176"/>
          </a:xfrm>
          <a:custGeom>
            <a:avLst/>
            <a:gdLst/>
            <a:ahLst/>
            <a:cxnLst/>
            <a:rect r="r" b="b" t="t" l="l"/>
            <a:pathLst>
              <a:path h="3718176" w="7074862">
                <a:moveTo>
                  <a:pt x="0" y="0"/>
                </a:moveTo>
                <a:lnTo>
                  <a:pt x="7074862" y="0"/>
                </a:lnTo>
                <a:lnTo>
                  <a:pt x="7074862" y="3718176"/>
                </a:lnTo>
                <a:lnTo>
                  <a:pt x="0" y="3718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070" y="320047"/>
            <a:ext cx="7813641" cy="131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b="true" sz="5536" spc="-415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DETAILED AIRFRAME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6070" y="8284404"/>
            <a:ext cx="5257466" cy="146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DESIGN SOFTWARE</a:t>
            </a:r>
          </a:p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Onshape → 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CAD / Assembly</a:t>
            </a:r>
          </a:p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SolidWorks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→ Detailed CAD / CFD &amp; Flow Simulation</a:t>
            </a:r>
          </a:p>
          <a:p>
            <a:pPr algn="just">
              <a:lnSpc>
                <a:spcPts val="2379"/>
              </a:lnSpc>
              <a:spcBef>
                <a:spcPct val="0"/>
              </a:spcBef>
            </a:pP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XFLR5 →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Aerodynamic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6070" y="1811558"/>
            <a:ext cx="12103256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699" spc="-20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STRUCTURAL &amp; AERODYNAMIC CONFIGURATION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070" y="4603309"/>
            <a:ext cx="6920085" cy="323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DESIGN OBJECTIVES</a:t>
            </a:r>
          </a:p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LOW MASS</a:t>
            </a:r>
          </a:p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Reduce str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uctur</a:t>
            </a:r>
            <a:r>
              <a:rPr lang="en-US" sz="1699" spc="-33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al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weight to preserve payload and battery capacity.</a:t>
            </a:r>
          </a:p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HIGH STIFFNESS</a:t>
            </a:r>
          </a:p>
          <a:p>
            <a:pPr algn="just">
              <a:lnSpc>
                <a:spcPts val="2379"/>
              </a:lnSpc>
            </a:pP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Maintain aerodynamic shape and flight stability.</a:t>
            </a:r>
          </a:p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MODULARITY</a:t>
            </a:r>
          </a:p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Provide accessible areas for avionics, batteries, payloads, and maintenance.</a:t>
            </a:r>
          </a:p>
          <a:p>
            <a:pPr algn="just">
              <a:lnSpc>
                <a:spcPts val="2379"/>
              </a:lnSpc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AERODYNAMIC EFFICIENCY</a:t>
            </a:r>
          </a:p>
          <a:p>
            <a:pPr algn="just">
              <a:lnSpc>
                <a:spcPts val="2379"/>
              </a:lnSpc>
              <a:spcBef>
                <a:spcPct val="0"/>
              </a:spcBef>
            </a:pP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Optimize the aircraft for efficient fixed-wing cruise.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070" y="2560514"/>
            <a:ext cx="8361967" cy="175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9"/>
              </a:lnSpc>
            </a:pPr>
            <a:r>
              <a:rPr lang="en-US" b="true" sz="1699" spc="-33" u="non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PRIMARY</a:t>
            </a:r>
            <a:r>
              <a:rPr lang="en-US" b="true" sz="1699" spc="-33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STRUCTURE</a:t>
            </a:r>
          </a:p>
          <a:p>
            <a:pPr algn="just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1699" spc="-33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arb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on-fiber fuselage</a:t>
            </a:r>
          </a:p>
          <a:p>
            <a:pPr algn="just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igh-aspect-ratio fixed wing</a:t>
            </a:r>
          </a:p>
          <a:p>
            <a:pPr algn="just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Twin-boom tail</a:t>
            </a:r>
          </a:p>
          <a:p>
            <a:pPr algn="just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Reinforced landing system</a:t>
            </a:r>
          </a:p>
          <a:p>
            <a:pPr algn="just" marL="367029" indent="-183514" lvl="1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spc="-33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VTOL motor supports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631846" y="2091957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212" y="452915"/>
            <a:ext cx="12637457" cy="129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5444" spc="-408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COMPONENT SELECTION &amp; ENGINEERING JUSTIFICATION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489212" y="1742597"/>
            <a:ext cx="11104454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89212" y="2803032"/>
          <a:ext cx="9217301" cy="6661150"/>
        </p:xfrm>
        <a:graphic>
          <a:graphicData uri="http://schemas.openxmlformats.org/drawingml/2006/table">
            <a:tbl>
              <a:tblPr/>
              <a:tblGrid>
                <a:gridCol w="2323777"/>
                <a:gridCol w="1709220"/>
                <a:gridCol w="5184304"/>
              </a:tblGrid>
              <a:tr h="8430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Selection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Engineering Justification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43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Flight Controller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Pixhawk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Established UAV flight-control 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Autopilot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ArduPilot QuadPlane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Supports hybrid VTOL/fixed-wing operation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Navigation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RTK-GNSS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High-precision position</a:t>
                      </a: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Carbon Fiber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High stiffness-to-w</a:t>
                      </a: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eight ratio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VTOL Motors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 × lift motors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Redundan</a:t>
                      </a: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 vertical propulsion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809910" y="2803032"/>
          <a:ext cx="8034538" cy="6661150"/>
        </p:xfrm>
        <a:graphic>
          <a:graphicData uri="http://schemas.openxmlformats.org/drawingml/2006/table">
            <a:tbl>
              <a:tblPr/>
              <a:tblGrid>
                <a:gridCol w="2185551"/>
                <a:gridCol w="2073346"/>
                <a:gridCol w="3775641"/>
              </a:tblGrid>
              <a:tr h="8430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Selection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Engineering Justification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43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Cruise Motor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Rear pusher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Efficient forward cruise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Battery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14S Li-ion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High energy density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Payload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Modular bay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Supports multiple mission sensors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Safety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Parachute + FTS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Emerg</a:t>
                      </a: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ency recovery capability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QGroundControl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Mission planning and flight supervision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89212" y="2036242"/>
            <a:ext cx="8654788" cy="67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5444" spc="-408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MAJOR COMPONENTS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631846" y="2091957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212" y="1063088"/>
            <a:ext cx="12637457" cy="67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5444" spc="-408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MODULAR PAYLOAD SYSTEM</a:t>
            </a:r>
          </a:p>
        </p:txBody>
      </p:sp>
      <p:sp>
        <p:nvSpPr>
          <p:cNvPr name="AutoShape 4" id="4"/>
          <p:cNvSpPr/>
          <p:nvPr/>
        </p:nvSpPr>
        <p:spPr>
          <a:xfrm>
            <a:off x="489212" y="1742597"/>
            <a:ext cx="11104454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57887">
            <a:off x="8021785" y="2657085"/>
            <a:ext cx="10573491" cy="5458565"/>
          </a:xfrm>
          <a:custGeom>
            <a:avLst/>
            <a:gdLst/>
            <a:ahLst/>
            <a:cxnLst/>
            <a:rect r="r" b="b" t="t" l="l"/>
            <a:pathLst>
              <a:path h="5458565" w="10573491">
                <a:moveTo>
                  <a:pt x="0" y="0"/>
                </a:moveTo>
                <a:lnTo>
                  <a:pt x="10573491" y="0"/>
                </a:lnTo>
                <a:lnTo>
                  <a:pt x="10573491" y="5458565"/>
                </a:lnTo>
                <a:lnTo>
                  <a:pt x="0" y="54585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9212" y="1979092"/>
            <a:ext cx="1482568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3499" spc="-26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ONE UAV → MULTIPLE MINING MISSIONS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212" y="2744391"/>
            <a:ext cx="9218123" cy="548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0"/>
              </a:lnSpc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AVAILABLE PAYLOADS</a:t>
            </a:r>
          </a:p>
          <a:p>
            <a:pPr algn="just" marL="488913" indent="-244456" lvl="1">
              <a:lnSpc>
                <a:spcPts val="3170"/>
              </a:lnSpc>
              <a:buFont typeface="Arial"/>
              <a:buChar char="•"/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Survey-grade LiDAR →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3D ter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264" spc="-45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ain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mapping</a:t>
            </a:r>
          </a:p>
          <a:p>
            <a:pPr algn="just" marL="488913" indent="-244456" lvl="1">
              <a:lnSpc>
                <a:spcPts val="3170"/>
              </a:lnSpc>
              <a:buFont typeface="Arial"/>
              <a:buChar char="•"/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RGB mapping camera → 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Orthomosaics</a:t>
            </a:r>
          </a:p>
          <a:p>
            <a:pPr algn="just" marL="488913" indent="-244456" lvl="1">
              <a:lnSpc>
                <a:spcPts val="3170"/>
              </a:lnSpc>
              <a:buFont typeface="Arial"/>
              <a:buChar char="•"/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Hyperspectral camera → 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Mineral identification</a:t>
            </a:r>
          </a:p>
          <a:p>
            <a:pPr algn="just" marL="488913" indent="-244456" lvl="1">
              <a:lnSpc>
                <a:spcPts val="3170"/>
              </a:lnSpc>
              <a:buFont typeface="Arial"/>
              <a:buChar char="•"/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Multispectral camera → 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Vegetation/land monitoring</a:t>
            </a:r>
          </a:p>
          <a:p>
            <a:pPr algn="just" marL="488913" indent="-244456" lvl="1">
              <a:lnSpc>
                <a:spcPts val="3170"/>
              </a:lnSpc>
              <a:buFont typeface="Arial"/>
              <a:buChar char="•"/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Magnetometer → 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Magnetic anomaly detection</a:t>
            </a:r>
          </a:p>
          <a:p>
            <a:pPr algn="just" marL="488913" indent="-244456" lvl="1">
              <a:lnSpc>
                <a:spcPts val="3170"/>
              </a:lnSpc>
              <a:buFont typeface="Arial"/>
              <a:buChar char="•"/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Thermal camera →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Thermal inspection</a:t>
            </a:r>
          </a:p>
          <a:p>
            <a:pPr algn="just" marL="488913" indent="-244456" lvl="1">
              <a:lnSpc>
                <a:spcPts val="3170"/>
              </a:lnSpc>
              <a:buFont typeface="Arial"/>
              <a:buChar char="•"/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Multi-gas sensor → 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Hazardous gas detection</a:t>
            </a:r>
          </a:p>
          <a:p>
            <a:pPr algn="just" marL="488913" indent="-244456" lvl="1">
              <a:lnSpc>
                <a:spcPts val="3170"/>
              </a:lnSpc>
              <a:buFont typeface="Arial"/>
              <a:buChar char="•"/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Radiation detector →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Radioactive-zone surveying</a:t>
            </a:r>
          </a:p>
          <a:p>
            <a:pPr algn="just">
              <a:lnSpc>
                <a:spcPts val="3170"/>
              </a:lnSpc>
            </a:pPr>
          </a:p>
          <a:p>
            <a:pPr algn="just">
              <a:lnSpc>
                <a:spcPts val="3170"/>
              </a:lnSpc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Maximum modular payload: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5 kg</a:t>
            </a:r>
          </a:p>
          <a:p>
            <a:pPr algn="just">
              <a:lnSpc>
                <a:spcPts val="3170"/>
              </a:lnSpc>
              <a:spcBef>
                <a:spcPct val="0"/>
              </a:spcBef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The original GEOMINER proposal explicitly defines eight interchangeable sensor modules and a standardized mechanical, power, and data interface.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710396" y="9667911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212" y="462440"/>
            <a:ext cx="12637457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6000" spc="-450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SIMULATION &amp; ANALYSIS</a:t>
            </a:r>
          </a:p>
        </p:txBody>
      </p:sp>
      <p:sp>
        <p:nvSpPr>
          <p:cNvPr name="AutoShape 4" id="4"/>
          <p:cNvSpPr/>
          <p:nvPr/>
        </p:nvSpPr>
        <p:spPr>
          <a:xfrm>
            <a:off x="489212" y="1127662"/>
            <a:ext cx="9349898" cy="96779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40209" y="2308383"/>
            <a:ext cx="1596494" cy="1596494"/>
          </a:xfrm>
          <a:custGeom>
            <a:avLst/>
            <a:gdLst/>
            <a:ahLst/>
            <a:cxnLst/>
            <a:rect r="r" b="b" t="t" l="l"/>
            <a:pathLst>
              <a:path h="1596494" w="1596494">
                <a:moveTo>
                  <a:pt x="0" y="0"/>
                </a:moveTo>
                <a:lnTo>
                  <a:pt x="1596494" y="0"/>
                </a:lnTo>
                <a:lnTo>
                  <a:pt x="1596494" y="1596494"/>
                </a:lnTo>
                <a:lnTo>
                  <a:pt x="0" y="1596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26669" y="5049628"/>
            <a:ext cx="1333336" cy="1333336"/>
          </a:xfrm>
          <a:custGeom>
            <a:avLst/>
            <a:gdLst/>
            <a:ahLst/>
            <a:cxnLst/>
            <a:rect r="r" b="b" t="t" l="l"/>
            <a:pathLst>
              <a:path h="1333336" w="1333336">
                <a:moveTo>
                  <a:pt x="0" y="0"/>
                </a:moveTo>
                <a:lnTo>
                  <a:pt x="1333336" y="0"/>
                </a:lnTo>
                <a:lnTo>
                  <a:pt x="1333336" y="1333336"/>
                </a:lnTo>
                <a:lnTo>
                  <a:pt x="0" y="133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62529" y="2184766"/>
            <a:ext cx="4070541" cy="2033087"/>
          </a:xfrm>
          <a:custGeom>
            <a:avLst/>
            <a:gdLst/>
            <a:ahLst/>
            <a:cxnLst/>
            <a:rect r="r" b="b" t="t" l="l"/>
            <a:pathLst>
              <a:path h="2033087" w="4070541">
                <a:moveTo>
                  <a:pt x="0" y="0"/>
                </a:moveTo>
                <a:lnTo>
                  <a:pt x="4070541" y="0"/>
                </a:lnTo>
                <a:lnTo>
                  <a:pt x="4070541" y="2033087"/>
                </a:lnTo>
                <a:lnTo>
                  <a:pt x="0" y="2033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209" t="-61187" r="-6841" b="-6115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9212" y="1432315"/>
            <a:ext cx="95998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3500" spc="-26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ENGINEERING SIMULATION ACTIVITIES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5634" y="3373024"/>
            <a:ext cx="9349898" cy="392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SolidWorks</a:t>
            </a:r>
          </a:p>
          <a:p>
            <a:pPr algn="just">
              <a:lnSpc>
                <a:spcPts val="3499"/>
              </a:lnSpc>
            </a:pP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Comp</a:t>
            </a: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leted / Used for: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Detailed aircraft 3D modeling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Wing and fuselage design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Component and assembly development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Str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uctural design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CFD and flow simulations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Aer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odynamic performance analysis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Design validation and optimization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1980311"/>
            <a:ext cx="9213390" cy="611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XFLR5</a:t>
            </a:r>
          </a:p>
          <a:p>
            <a:pPr algn="just">
              <a:lnSpc>
                <a:spcPts val="3499"/>
              </a:lnSpc>
            </a:pP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</a:t>
            </a: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mpleted / Used for: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Airfoil analysis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Wing aerodynamic analysis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ift/drag evaluation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Preli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minary aerodynamic performance assessment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QGr</a:t>
            </a: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ound</a:t>
            </a: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Contro</a:t>
            </a: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l</a:t>
            </a:r>
          </a:p>
          <a:p>
            <a:pPr algn="just">
              <a:lnSpc>
                <a:spcPts val="3499"/>
              </a:lnSpc>
            </a:pP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Intended for: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Mission planning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GCS configuration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Fligh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 visualization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Autonomous mission setup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Simulation/testing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5634" y="7918460"/>
            <a:ext cx="15998126" cy="217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Simulatio</a:t>
            </a:r>
            <a:r>
              <a:rPr lang="en-US" b="true" sz="2499" spc="-49" u="none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n St</a:t>
            </a:r>
            <a:r>
              <a:rPr lang="en-US" b="true" sz="2499" spc="-49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atus: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Required aerodynamic a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nd fluid-fl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ow si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mulations have been successfully completed in SolidWorks. The UAV design is now prepa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red f</a:t>
            </a:r>
            <a:r>
              <a:rPr lang="en-US" sz="2499" spc="-49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or software-in-the-loop (SITL) flight simulation using Gazebo, with the aircraft model to be integrated through URDF and connected to QGroundControl for flight-control and mission testing.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603496" y="9258300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912" y="758193"/>
            <a:ext cx="14082892" cy="129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5444" spc="-408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SAFETY, REDUNDANCY &amp; MISSION RELIABILITY</a:t>
            </a:r>
          </a:p>
        </p:txBody>
      </p:sp>
      <p:sp>
        <p:nvSpPr>
          <p:cNvPr name="AutoShape 4" id="4"/>
          <p:cNvSpPr/>
          <p:nvPr/>
        </p:nvSpPr>
        <p:spPr>
          <a:xfrm>
            <a:off x="484912" y="2047875"/>
            <a:ext cx="12828611" cy="4763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05756" y="2783861"/>
            <a:ext cx="6938692" cy="3642813"/>
          </a:xfrm>
          <a:custGeom>
            <a:avLst/>
            <a:gdLst/>
            <a:ahLst/>
            <a:cxnLst/>
            <a:rect r="r" b="b" t="t" l="l"/>
            <a:pathLst>
              <a:path h="3642813" w="6938692">
                <a:moveTo>
                  <a:pt x="0" y="0"/>
                </a:moveTo>
                <a:lnTo>
                  <a:pt x="6938692" y="0"/>
                </a:lnTo>
                <a:lnTo>
                  <a:pt x="6938692" y="3642813"/>
                </a:lnTo>
                <a:lnTo>
                  <a:pt x="0" y="3642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05116" y="3154088"/>
            <a:ext cx="6633018" cy="678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0"/>
              </a:lnSpc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PROPULSION REDUNDANCY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Four ind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epe</a:t>
            </a:r>
            <a:r>
              <a:rPr lang="en-US" sz="2264" spc="-45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nd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ent VTOL motors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eparate cruise motor</a:t>
            </a:r>
          </a:p>
          <a:p>
            <a:pPr algn="just">
              <a:lnSpc>
                <a:spcPts val="3170"/>
              </a:lnSpc>
            </a:pPr>
          </a:p>
          <a:p>
            <a:pPr algn="just">
              <a:lnSpc>
                <a:spcPts val="3170"/>
              </a:lnSpc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POWER</a:t>
            </a: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REDUNDANCY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Main battery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Backup power</a:t>
            </a:r>
          </a:p>
          <a:p>
            <a:pPr algn="just">
              <a:lnSpc>
                <a:spcPts val="3170"/>
              </a:lnSpc>
            </a:pPr>
          </a:p>
          <a:p>
            <a:pPr algn="just">
              <a:lnSpc>
                <a:spcPts val="3170"/>
              </a:lnSpc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RECOVERY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Ballistic parachute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Loc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ator beacon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Emergency water-landing capability</a:t>
            </a:r>
          </a:p>
          <a:p>
            <a:pPr algn="just">
              <a:lnSpc>
                <a:spcPts val="3170"/>
              </a:lnSpc>
            </a:pPr>
          </a:p>
          <a:p>
            <a:pPr algn="just">
              <a:lnSpc>
                <a:spcPts val="3170"/>
              </a:lnSpc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ATA RELIABILITY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Onboard data recording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Data backup</a:t>
            </a:r>
          </a:p>
          <a:p>
            <a:pPr algn="just" marL="488913" indent="-244457" lvl="1">
              <a:lnSpc>
                <a:spcPts val="3170"/>
              </a:lnSpc>
              <a:spcBef>
                <a:spcPct val="0"/>
              </a:spcBef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Telemetry monitoring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711108" y="4419959"/>
            <a:ext cx="2287539" cy="2287539"/>
          </a:xfrm>
          <a:custGeom>
            <a:avLst/>
            <a:gdLst/>
            <a:ahLst/>
            <a:cxnLst/>
            <a:rect r="r" b="b" t="t" l="l"/>
            <a:pathLst>
              <a:path h="2287539" w="2287539">
                <a:moveTo>
                  <a:pt x="0" y="0"/>
                </a:moveTo>
                <a:lnTo>
                  <a:pt x="2287538" y="0"/>
                </a:lnTo>
                <a:lnTo>
                  <a:pt x="2287538" y="2287538"/>
                </a:lnTo>
                <a:lnTo>
                  <a:pt x="0" y="2287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601567">
            <a:off x="10140466" y="5177690"/>
            <a:ext cx="8854678" cy="4732673"/>
          </a:xfrm>
          <a:custGeom>
            <a:avLst/>
            <a:gdLst/>
            <a:ahLst/>
            <a:cxnLst/>
            <a:rect r="r" b="b" t="t" l="l"/>
            <a:pathLst>
              <a:path h="4732673" w="8854678">
                <a:moveTo>
                  <a:pt x="0" y="0"/>
                </a:moveTo>
                <a:lnTo>
                  <a:pt x="8854678" y="0"/>
                </a:lnTo>
                <a:lnTo>
                  <a:pt x="8854678" y="4732673"/>
                </a:lnTo>
                <a:lnTo>
                  <a:pt x="0" y="47326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9212" y="2355235"/>
            <a:ext cx="1282431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3500" spc="-26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LAYERED SAFETY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9212" y="3154088"/>
            <a:ext cx="4826224" cy="478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0"/>
              </a:lnSpc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FLIGHT SAFETY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eofe</a:t>
            </a:r>
            <a:r>
              <a:rPr lang="en-US" sz="2264" spc="-45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nc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ing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Return-to-Home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ergency termination</a:t>
            </a:r>
          </a:p>
          <a:p>
            <a:pPr algn="just">
              <a:lnSpc>
                <a:spcPts val="3170"/>
              </a:lnSpc>
            </a:pPr>
          </a:p>
          <a:p>
            <a:pPr algn="just">
              <a:lnSpc>
                <a:spcPts val="3170"/>
              </a:lnSpc>
            </a:pP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SENSOR</a:t>
            </a:r>
            <a:r>
              <a:rPr lang="en-US" b="true" sz="2264" spc="-4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REDUNDANCY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MU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GNSS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Barometer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Magnetometer</a:t>
            </a:r>
          </a:p>
          <a:p>
            <a:pPr algn="just" marL="488913" indent="-244457" lvl="1">
              <a:lnSpc>
                <a:spcPts val="3170"/>
              </a:lnSpc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Airspeed</a:t>
            </a:r>
          </a:p>
          <a:p>
            <a:pPr algn="just" marL="488913" indent="-244457" lvl="1">
              <a:lnSpc>
                <a:spcPts val="3170"/>
              </a:lnSpc>
              <a:spcBef>
                <a:spcPct val="0"/>
              </a:spcBef>
              <a:buFont typeface="Arial"/>
              <a:buChar char="•"/>
            </a:pPr>
            <a:r>
              <a:rPr lang="en-US" sz="2264" spc="-4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Range sensing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631846" y="2091957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212" y="452915"/>
            <a:ext cx="12637457" cy="129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5444" spc="-408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ENGINEERING TRADE-OFF ANALYSIS</a:t>
            </a:r>
          </a:p>
        </p:txBody>
      </p:sp>
      <p:sp>
        <p:nvSpPr>
          <p:cNvPr name="AutoShape 4" id="4"/>
          <p:cNvSpPr/>
          <p:nvPr/>
        </p:nvSpPr>
        <p:spPr>
          <a:xfrm>
            <a:off x="489212" y="1742597"/>
            <a:ext cx="9270238" cy="4762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462810" y="148357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89212" y="2722042"/>
          <a:ext cx="17142634" cy="7412037"/>
        </p:xfrm>
        <a:graphic>
          <a:graphicData uri="http://schemas.openxmlformats.org/drawingml/2006/table">
            <a:tbl>
              <a:tblPr/>
              <a:tblGrid>
                <a:gridCol w="4222104"/>
                <a:gridCol w="4625577"/>
                <a:gridCol w="8294953"/>
              </a:tblGrid>
              <a:tr h="8425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Trade-Off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Selected Design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i="true">
                          <a:solidFill>
                            <a:srgbClr val="FFFFFF"/>
                          </a:solidFill>
                          <a:latin typeface="Garet Bold Italics"/>
                          <a:ea typeface="Garet Bold Italics"/>
                          <a:cs typeface="Garet Bold Italics"/>
                          <a:sym typeface="Garet Bold Italics"/>
                        </a:rPr>
                        <a:t>Reason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8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Hover vs Endurance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Hybrid VTOL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VTOL + efficient cruise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69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Weight vs Strength</a:t>
                      </a:r>
                      <a:endParaRPr lang="en-US" sz="1100"/>
                    </a:p>
                    <a:p>
                      <a:pPr algn="ctr">
                        <a:lnSpc>
                          <a:spcPts val="196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Carbon Fiber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High strength/stiffness-to-weight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Payload vs Endurance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Modular Payload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Carry mission-specific sensors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12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Battery vs Weight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Li-ion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High ener</a:t>
                      </a: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gy density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12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Speed vs Mapping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Variable Cruise Speed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Match mission requirements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12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Cost vs 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Commercial Components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Balance cost and reliability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12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Autonomy vs Safety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Supervised Autonomy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Human oversight for critical phases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9554676" y="3318"/>
            <a:ext cx="3240202" cy="2869788"/>
          </a:xfrm>
          <a:custGeom>
            <a:avLst/>
            <a:gdLst/>
            <a:ahLst/>
            <a:cxnLst/>
            <a:rect r="r" b="b" t="t" l="l"/>
            <a:pathLst>
              <a:path h="2869788" w="3240202">
                <a:moveTo>
                  <a:pt x="0" y="0"/>
                </a:moveTo>
                <a:lnTo>
                  <a:pt x="3240202" y="0"/>
                </a:lnTo>
                <a:lnTo>
                  <a:pt x="3240202" y="2869788"/>
                </a:lnTo>
                <a:lnTo>
                  <a:pt x="0" y="2869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453" r="0" b="-645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9212" y="1998142"/>
            <a:ext cx="932069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3500" spc="-26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KEY DESIGN DECISIONS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7631846" y="2091957"/>
            <a:ext cx="425204" cy="425204"/>
          </a:xfrm>
          <a:custGeom>
            <a:avLst/>
            <a:gdLst/>
            <a:ahLst/>
            <a:cxnLst/>
            <a:rect r="r" b="b" t="t" l="l"/>
            <a:pathLst>
              <a:path h="425204" w="425204">
                <a:moveTo>
                  <a:pt x="0" y="0"/>
                </a:moveTo>
                <a:lnTo>
                  <a:pt x="425204" y="0"/>
                </a:lnTo>
                <a:lnTo>
                  <a:pt x="425204" y="425204"/>
                </a:lnTo>
                <a:lnTo>
                  <a:pt x="0" y="42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212" y="1063088"/>
            <a:ext cx="12637457" cy="67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5444" spc="-408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EXPECTED DELIVERABLES</a:t>
            </a:r>
          </a:p>
        </p:txBody>
      </p:sp>
      <p:sp>
        <p:nvSpPr>
          <p:cNvPr name="AutoShape 4" id="4"/>
          <p:cNvSpPr/>
          <p:nvPr/>
        </p:nvSpPr>
        <p:spPr>
          <a:xfrm>
            <a:off x="489212" y="1742597"/>
            <a:ext cx="9798003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693760" y="0"/>
            <a:ext cx="1594240" cy="1594240"/>
          </a:xfrm>
          <a:custGeom>
            <a:avLst/>
            <a:gdLst/>
            <a:ahLst/>
            <a:cxnLst/>
            <a:rect r="r" b="b" t="t" l="l"/>
            <a:pathLst>
              <a:path h="1594240" w="1594240">
                <a:moveTo>
                  <a:pt x="0" y="0"/>
                </a:moveTo>
                <a:lnTo>
                  <a:pt x="1594240" y="0"/>
                </a:lnTo>
                <a:lnTo>
                  <a:pt x="1594240" y="1594240"/>
                </a:lnTo>
                <a:lnTo>
                  <a:pt x="0" y="159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215" y="18219"/>
            <a:ext cx="5233703" cy="1803988"/>
          </a:xfrm>
          <a:custGeom>
            <a:avLst/>
            <a:gdLst/>
            <a:ahLst/>
            <a:cxnLst/>
            <a:rect r="r" b="b" t="t" l="l"/>
            <a:pathLst>
              <a:path h="1803988" w="5233703">
                <a:moveTo>
                  <a:pt x="0" y="0"/>
                </a:moveTo>
                <a:lnTo>
                  <a:pt x="5233703" y="0"/>
                </a:lnTo>
                <a:lnTo>
                  <a:pt x="5233703" y="1803988"/>
                </a:lnTo>
                <a:lnTo>
                  <a:pt x="0" y="1803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721" t="-68935" r="-27721" b="-9317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08105" y="1672375"/>
            <a:ext cx="7182775" cy="1119076"/>
          </a:xfrm>
          <a:custGeom>
            <a:avLst/>
            <a:gdLst/>
            <a:ahLst/>
            <a:cxnLst/>
            <a:rect r="r" b="b" t="t" l="l"/>
            <a:pathLst>
              <a:path h="1119076" w="7182775">
                <a:moveTo>
                  <a:pt x="0" y="0"/>
                </a:moveTo>
                <a:lnTo>
                  <a:pt x="7182775" y="0"/>
                </a:lnTo>
                <a:lnTo>
                  <a:pt x="7182775" y="1119076"/>
                </a:lnTo>
                <a:lnTo>
                  <a:pt x="0" y="1119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030" t="-226947" r="-28716" b="-25897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9212" y="2388667"/>
            <a:ext cx="6633018" cy="774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1. COMPLETE PROJECT DOCUMENTATION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Full engin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eeri</a:t>
            </a:r>
            <a:r>
              <a:rPr lang="en-US" sz="2000" spc="-40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ng r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eport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PDF documentation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Pow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erPoint presentation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Simulation and analysis results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2. SYST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Mission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Perform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ance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Component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Airfr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ame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Avionics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Payload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Safety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Simulation requirements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3.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DESIGN &amp; ENGINEERING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C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omplete hybrid VTOL configuration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Airframe design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Propulsion system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Electrical power system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Avionics architecture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Payload architecture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Safety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1561" y="2388667"/>
            <a:ext cx="6104878" cy="668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4. FLIGHT CONTROL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P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ixhawk</a:t>
            </a:r>
            <a:r>
              <a:rPr lang="en-US" sz="2000" spc="-40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auto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pilot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ArduPilot QuadPlane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QG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roundControl GCS architecture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Mission planning concept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Autonomous flight-control architecture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5. 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ENG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INEERING SOFTWARE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O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nshape — CAD design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Ope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nVSP — aircraft configuration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XFLR5 — aerodyn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amic analysis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ArduPilot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—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autopilot architecture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QGroundControl — GCS and 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mission-planning environment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6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SYSTEM ARCHITECTURE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C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omplete system architecture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Major systems and subsystems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Functional block diagram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Component interfaces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Flight-control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9212" y="1895475"/>
            <a:ext cx="932069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3500" spc="-26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PROJECT OUTPUTS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02561" y="2831486"/>
            <a:ext cx="5754489" cy="668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7. COMPONENT SELECTION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Majo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000" spc="-40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com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ponent identification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Engine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ering justification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Weight and power considerations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Perform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ance considerations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8.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SAFETY &amp; RELIABILITY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Saf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ety analysis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Redundancy strategy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Failsafe architecture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Emergency recovery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Mission reliability considerations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9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PERFORMANCE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✅ MTOW analysis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Payl</a:t>
            </a: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oad capacity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Endurance estimate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Range estimate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Propulsion sizing</a:t>
            </a:r>
          </a:p>
          <a:p>
            <a:pPr algn="just">
              <a:lnSpc>
                <a:spcPts val="2800"/>
              </a:lnSpc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Aerodynamic analysis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✅ Expected operational capabilities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98432" y="1766888"/>
            <a:ext cx="8347380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83327" y="2581910"/>
            <a:ext cx="7388796" cy="555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b="true" sz="3099" i="true" spc="-61">
                <a:solidFill>
                  <a:srgbClr val="F2F1FF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Future Improvements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AI</a:t>
            </a: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&amp; ML – </a:t>
            </a: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Onboard mineral detection and autonomous decisions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Digital Twin – </a:t>
            </a: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Real-time mine site modeling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Swarm UAVs – </a:t>
            </a: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Multi-drone coordinated missions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atellite Communication – </a:t>
            </a: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Beyond-line-of-sight (BLOS) operation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Renewable Energy – </a:t>
            </a: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Solar-powered charging stations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Cybersecurity – </a:t>
            </a: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Encrypted links and GNSS protection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7708523" y="7531204"/>
            <a:ext cx="2715315" cy="2374366"/>
            <a:chOff x="0" y="0"/>
            <a:chExt cx="518867" cy="453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8867" cy="453715"/>
            </a:xfrm>
            <a:custGeom>
              <a:avLst/>
              <a:gdLst/>
              <a:ahLst/>
              <a:cxnLst/>
              <a:rect r="r" b="b" t="t" l="l"/>
              <a:pathLst>
                <a:path h="453715" w="518867">
                  <a:moveTo>
                    <a:pt x="99792" y="0"/>
                  </a:moveTo>
                  <a:lnTo>
                    <a:pt x="419075" y="0"/>
                  </a:lnTo>
                  <a:cubicBezTo>
                    <a:pt x="445541" y="0"/>
                    <a:pt x="470924" y="10514"/>
                    <a:pt x="489639" y="29228"/>
                  </a:cubicBezTo>
                  <a:cubicBezTo>
                    <a:pt x="508353" y="47943"/>
                    <a:pt x="518867" y="73326"/>
                    <a:pt x="518867" y="99792"/>
                  </a:cubicBezTo>
                  <a:lnTo>
                    <a:pt x="518867" y="353923"/>
                  </a:lnTo>
                  <a:cubicBezTo>
                    <a:pt x="518867" y="380390"/>
                    <a:pt x="508353" y="405772"/>
                    <a:pt x="489639" y="424487"/>
                  </a:cubicBezTo>
                  <a:cubicBezTo>
                    <a:pt x="470924" y="443202"/>
                    <a:pt x="445541" y="453715"/>
                    <a:pt x="419075" y="453715"/>
                  </a:cubicBezTo>
                  <a:lnTo>
                    <a:pt x="99792" y="453715"/>
                  </a:lnTo>
                  <a:cubicBezTo>
                    <a:pt x="73326" y="453715"/>
                    <a:pt x="47943" y="443202"/>
                    <a:pt x="29228" y="424487"/>
                  </a:cubicBezTo>
                  <a:cubicBezTo>
                    <a:pt x="10514" y="405772"/>
                    <a:pt x="0" y="380390"/>
                    <a:pt x="0" y="353923"/>
                  </a:cubicBezTo>
                  <a:lnTo>
                    <a:pt x="0" y="99792"/>
                  </a:lnTo>
                  <a:cubicBezTo>
                    <a:pt x="0" y="73326"/>
                    <a:pt x="10514" y="47943"/>
                    <a:pt x="29228" y="29228"/>
                  </a:cubicBezTo>
                  <a:cubicBezTo>
                    <a:pt x="47943" y="10514"/>
                    <a:pt x="73326" y="0"/>
                    <a:pt x="99792" y="0"/>
                  </a:cubicBezTo>
                  <a:close/>
                </a:path>
              </a:pathLst>
            </a:custGeom>
            <a:blipFill>
              <a:blip r:embed="rId2"/>
              <a:stretch>
                <a:fillRect l="-15523" t="0" r="-15523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380448" y="0"/>
            <a:ext cx="1907552" cy="1907552"/>
          </a:xfrm>
          <a:custGeom>
            <a:avLst/>
            <a:gdLst/>
            <a:ahLst/>
            <a:cxnLst/>
            <a:rect r="r" b="b" t="t" l="l"/>
            <a:pathLst>
              <a:path h="1907552" w="1907552">
                <a:moveTo>
                  <a:pt x="0" y="0"/>
                </a:moveTo>
                <a:lnTo>
                  <a:pt x="1907552" y="0"/>
                </a:lnTo>
                <a:lnTo>
                  <a:pt x="1907552" y="1907552"/>
                </a:lnTo>
                <a:lnTo>
                  <a:pt x="0" y="1907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24037">
            <a:off x="2428698" y="6669360"/>
            <a:ext cx="4098053" cy="4098053"/>
          </a:xfrm>
          <a:custGeom>
            <a:avLst/>
            <a:gdLst/>
            <a:ahLst/>
            <a:cxnLst/>
            <a:rect r="r" b="b" t="t" l="l"/>
            <a:pathLst>
              <a:path h="4098053" w="4098053">
                <a:moveTo>
                  <a:pt x="0" y="0"/>
                </a:moveTo>
                <a:lnTo>
                  <a:pt x="4098053" y="0"/>
                </a:lnTo>
                <a:lnTo>
                  <a:pt x="4098053" y="4098053"/>
                </a:lnTo>
                <a:lnTo>
                  <a:pt x="0" y="4098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31542" y="457200"/>
            <a:ext cx="10281161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b="true" sz="5500" spc="-412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FUTURE IMPROVEMENTS &amp; DEVELOPMENT ROADMAP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3902" y="3088844"/>
            <a:ext cx="7388796" cy="681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b="true" sz="3099" i="true" spc="-61">
                <a:solidFill>
                  <a:srgbClr val="F2F1FF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Development Roadmap</a:t>
            </a:r>
          </a:p>
          <a:p>
            <a:pPr algn="just">
              <a:lnSpc>
                <a:spcPts val="3359"/>
              </a:lnSpc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PHASE</a:t>
            </a: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1 — ENERGY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Higher-density batteries and improved power management.</a:t>
            </a:r>
          </a:p>
          <a:p>
            <a:pPr algn="just">
              <a:lnSpc>
                <a:spcPts val="3359"/>
              </a:lnSpc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PHASE 2 — SENSING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Advanced LiDAR, hyperspectral, thermal, and magnetic sensors.</a:t>
            </a:r>
          </a:p>
          <a:p>
            <a:pPr algn="just">
              <a:lnSpc>
                <a:spcPts val="3359"/>
              </a:lnSpc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PHASE 3 — AI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Onboard mineral anomaly detection and intelligent data processing.</a:t>
            </a:r>
          </a:p>
          <a:p>
            <a:pPr algn="just">
              <a:lnSpc>
                <a:spcPts val="3359"/>
              </a:lnSpc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PHASE 4 — COMMUNICATION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Satellite communications and extended-range operations.</a:t>
            </a:r>
          </a:p>
          <a:p>
            <a:pPr algn="just">
              <a:lnSpc>
                <a:spcPts val="3359"/>
              </a:lnSpc>
            </a:pPr>
            <a:r>
              <a:rPr lang="en-US" b="true" sz="2399" spc="-4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PHASE 5 — MULTI-UAV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spc="-4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Coordinated multi-UAV mapping of large mining concessions.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48740" y="2057400"/>
            <a:ext cx="6302760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774288"/>
            <a:ext cx="16551805" cy="686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8"/>
              </a:lnSpc>
            </a:pPr>
            <a:r>
              <a:rPr lang="en-US" b="true" sz="3034" spc="-60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GEOMINER 1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is a professional </a:t>
            </a:r>
            <a:r>
              <a:rPr lang="en-US" sz="3034" spc="-60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Hybrid VTOL Mining UAV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at inte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rat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es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ertical takeoff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and land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ng, efficien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 fixed-wing cruise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is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ig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ion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, m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odular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ayload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s,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utono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ous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light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con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trol,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and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laye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y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syst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ms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for m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iner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 explo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ion and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mi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ati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ns.</a:t>
            </a:r>
          </a:p>
          <a:p>
            <a:pPr algn="just">
              <a:lnSpc>
                <a:spcPts val="4248"/>
              </a:lnSpc>
            </a:pPr>
          </a:p>
          <a:p>
            <a:pPr algn="just">
              <a:lnSpc>
                <a:spcPts val="4248"/>
              </a:lnSpc>
            </a:pP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esig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ed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shape,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SolidWorks,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 XFLR5, with SolidWorks used for CFD and fluid-flow simulations. P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xh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wk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+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ArduPilot Qu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dP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 h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and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les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flight c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tro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while QGroundC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ol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provides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m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p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ng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and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moni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tor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ing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just">
              <a:lnSpc>
                <a:spcPts val="4248"/>
              </a:lnSpc>
            </a:pP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 spc="-60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Projec</a:t>
            </a:r>
            <a:r>
              <a:rPr lang="en-US" b="true" sz="3034" spc="-60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 </a:t>
            </a:r>
            <a:r>
              <a:rPr lang="en-US" b="true" sz="3034" spc="-60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Stat</a:t>
            </a:r>
            <a:r>
              <a:rPr lang="en-US" b="true" sz="3034" spc="-60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us</a:t>
            </a:r>
            <a:r>
              <a:rPr lang="en-US" b="true" sz="3034" spc="-60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: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The required ae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rody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namic and fluid-flow simula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tion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 have be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ed in SolidWorks. The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UAV 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 now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rea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dy fo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 Gazebo-based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SI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TL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fligh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simu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lation,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using 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 URDF mod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el for integration with QGrou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ndContr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ol. The next stage is to validate flight dynamics, VTOL operation, transition, and autonomous control</a:t>
            </a:r>
            <a:r>
              <a:rPr lang="en-US" sz="3034" spc="-60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470607" y="23731"/>
            <a:ext cx="1817393" cy="1817393"/>
          </a:xfrm>
          <a:custGeom>
            <a:avLst/>
            <a:gdLst/>
            <a:ahLst/>
            <a:cxnLst/>
            <a:rect r="r" b="b" t="t" l="l"/>
            <a:pathLst>
              <a:path h="1817393" w="1817393">
                <a:moveTo>
                  <a:pt x="0" y="0"/>
                </a:moveTo>
                <a:lnTo>
                  <a:pt x="1817393" y="0"/>
                </a:lnTo>
                <a:lnTo>
                  <a:pt x="1817393" y="1817393"/>
                </a:lnTo>
                <a:lnTo>
                  <a:pt x="0" y="1817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8240">
            <a:off x="787523" y="-36641"/>
            <a:ext cx="6121771" cy="3132139"/>
          </a:xfrm>
          <a:custGeom>
            <a:avLst/>
            <a:gdLst/>
            <a:ahLst/>
            <a:cxnLst/>
            <a:rect r="r" b="b" t="t" l="l"/>
            <a:pathLst>
              <a:path h="3132139" w="6121771">
                <a:moveTo>
                  <a:pt x="0" y="0"/>
                </a:moveTo>
                <a:lnTo>
                  <a:pt x="6121771" y="0"/>
                </a:lnTo>
                <a:lnTo>
                  <a:pt x="6121771" y="3132138"/>
                </a:lnTo>
                <a:lnTo>
                  <a:pt x="0" y="3132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69" t="-22316" r="-12527" b="-418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46033" y="387726"/>
            <a:ext cx="8242996" cy="145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2"/>
              </a:lnSpc>
            </a:pPr>
            <a:r>
              <a:rPr lang="en-US" b="true" sz="6146" spc="-461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FINAL DESIGN SUMMARY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75235" y="8474235"/>
            <a:ext cx="1581185" cy="1581185"/>
          </a:xfrm>
          <a:custGeom>
            <a:avLst/>
            <a:gdLst/>
            <a:ahLst/>
            <a:cxnLst/>
            <a:rect r="r" b="b" t="t" l="l"/>
            <a:pathLst>
              <a:path h="1581185" w="1581185">
                <a:moveTo>
                  <a:pt x="0" y="0"/>
                </a:moveTo>
                <a:lnTo>
                  <a:pt x="1581185" y="0"/>
                </a:lnTo>
                <a:lnTo>
                  <a:pt x="1581185" y="1581185"/>
                </a:lnTo>
                <a:lnTo>
                  <a:pt x="0" y="1581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69961">
            <a:off x="-793476" y="-150939"/>
            <a:ext cx="6810885" cy="3488515"/>
          </a:xfrm>
          <a:custGeom>
            <a:avLst/>
            <a:gdLst/>
            <a:ahLst/>
            <a:cxnLst/>
            <a:rect r="r" b="b" t="t" l="l"/>
            <a:pathLst>
              <a:path h="3488515" w="6810885">
                <a:moveTo>
                  <a:pt x="0" y="0"/>
                </a:moveTo>
                <a:lnTo>
                  <a:pt x="6810885" y="0"/>
                </a:lnTo>
                <a:lnTo>
                  <a:pt x="6810885" y="3488515"/>
                </a:lnTo>
                <a:lnTo>
                  <a:pt x="0" y="3488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79" t="-25470" r="-16272" b="-606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305431"/>
            <a:ext cx="16237127" cy="42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97"/>
              </a:lnSpc>
            </a:pPr>
            <a:r>
              <a:rPr lang="en-US" b="true" sz="12108" spc="-908">
                <a:solidFill>
                  <a:srgbClr val="FFFFFF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“ THANK YOU SO MUCH FOR YOUR ATENTION!!! 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DAHRe61vEPk</dc:identifier>
  <dcterms:modified xsi:type="dcterms:W3CDTF">2011-08-01T06:04:30Z</dcterms:modified>
  <cp:revision>1</cp:revision>
  <dc:title>Team 4_Aerospace_INSA_Final_Project_Presentation_Slides</dc:title>
</cp:coreProperties>
</file>